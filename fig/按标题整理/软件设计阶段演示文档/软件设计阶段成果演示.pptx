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7091A-64B2-4206-9929-7AA5EE2B494F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688D1-DB78-4358-8C22-3A7E2CFD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91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开场：老师好，我这次汇报的是软件设计阶段完成的成果。系统主题是多小车协作巡检仿真，我会按设计阶段的核心产物来讲：架构、数据结构、模块详细设计、接口和协作流程。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92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这一页先总览。我完成的不是单张图，而是把系统从需求转成设计产物：先确定总体架构，再定义运行时数据结构，然后细化核心模块，最后说明模块之间怎么通信。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085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总体架构的重点是解耦。前端不直接碰 </a:t>
            </a:r>
            <a:r>
              <a:rPr lang="en-US" altLang="zh-CN"/>
              <a:t>Redis</a:t>
            </a:r>
            <a:r>
              <a:rPr lang="zh-CN" altLang="en-US"/>
              <a:t>，只通过后端。三个 </a:t>
            </a:r>
            <a:r>
              <a:rPr lang="en-US" altLang="zh-CN"/>
              <a:t>Worker </a:t>
            </a:r>
            <a:r>
              <a:rPr lang="zh-CN" altLang="en-US"/>
              <a:t>不互相调用，而是围绕 </a:t>
            </a:r>
            <a:r>
              <a:rPr lang="en-US" altLang="zh-CN"/>
              <a:t>Redis </a:t>
            </a:r>
            <a:r>
              <a:rPr lang="zh-CN" altLang="en-US"/>
              <a:t>黑板协作。这使系统既能单机演示，也能扩展到分布式部署。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55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这里说明我不是直接开始画类和接口，而是先确认用户边界。系统中管理员、运行员、分析员职责不同，因此后面接口设计和页面入口都按角色做权限约束。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265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状态图用于控制小车运行语义。比如小车空闲时才能被分配任务，运行中发生阻塞会回退并触发重规划，完成后再回到待分配状态。这为后面的详细设计提供约束。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273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数据结构设计是软件设计阶段很关键的一部分。我把 </a:t>
            </a:r>
            <a:r>
              <a:rPr lang="en-US" altLang="zh-CN"/>
              <a:t>Redis </a:t>
            </a:r>
            <a:r>
              <a:rPr lang="zh-CN" altLang="en-US"/>
              <a:t>黑板中的对象分成运行配置、车辆、前沿点、任务、导航请求、路径计划、地图、心跳和事件。这样模块之间不用传复杂对象，只要按照这些结构读写黑板。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040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这张图展示地图探索子系统。它把核心闭环拆成几个处理过程，并标清每个过程读写哪些数据表。这样可以从设计上看到，探索、任务分配、路径规划和显示刷新之间如何连接。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858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小车模块是执行核心，所以我进一步做了二层和三层细化。二层图说明小车接收节拍、读取状态、处理待分配</a:t>
            </a:r>
            <a:r>
              <a:rPr lang="en-US" altLang="zh-CN"/>
              <a:t>/</a:t>
            </a:r>
            <a:r>
              <a:rPr lang="zh-CN" altLang="en-US"/>
              <a:t>分配中</a:t>
            </a:r>
            <a:r>
              <a:rPr lang="en-US" altLang="zh-CN"/>
              <a:t>/</a:t>
            </a:r>
            <a:r>
              <a:rPr lang="zh-CN" altLang="en-US"/>
              <a:t>运行中状态。三层图重点展开运行中：读取路径、碰撞检测、执行移动、点亮地图、更新任务进度、完成或阻塞处理。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918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接口设计部分我把接口分成三类：第一类是前端调用后端的 </a:t>
            </a:r>
            <a:r>
              <a:rPr lang="en-US" altLang="zh-CN"/>
              <a:t>REST</a:t>
            </a:r>
            <a:r>
              <a:rPr lang="zh-CN" altLang="en-US"/>
              <a:t>；第二类是实时状态用 </a:t>
            </a:r>
            <a:r>
              <a:rPr lang="en-US" altLang="zh-CN"/>
              <a:t>WebSocket</a:t>
            </a:r>
            <a:r>
              <a:rPr lang="zh-CN" altLang="en-US"/>
              <a:t>；第三类是内部 </a:t>
            </a:r>
            <a:r>
              <a:rPr lang="en-US" altLang="zh-CN"/>
              <a:t>Worker </a:t>
            </a:r>
            <a:r>
              <a:rPr lang="zh-CN" altLang="en-US"/>
              <a:t>读写 </a:t>
            </a:r>
            <a:r>
              <a:rPr lang="en-US" altLang="zh-CN"/>
              <a:t>Redis </a:t>
            </a:r>
            <a:r>
              <a:rPr lang="zh-CN" altLang="en-US"/>
              <a:t>黑板。这里的重点是浏览器不直接访问 </a:t>
            </a:r>
            <a:r>
              <a:rPr lang="en-US" altLang="zh-CN"/>
              <a:t>Redis</a:t>
            </a:r>
            <a:r>
              <a:rPr lang="zh-CN" altLang="en-US"/>
              <a:t>，</a:t>
            </a:r>
            <a:r>
              <a:rPr lang="en-US" altLang="zh-CN"/>
              <a:t>Worker </a:t>
            </a:r>
            <a:r>
              <a:rPr lang="zh-CN" altLang="en-US"/>
              <a:t>也不暴露额外 </a:t>
            </a:r>
            <a:r>
              <a:rPr lang="en-US" altLang="zh-CN"/>
              <a:t>HTTP </a:t>
            </a:r>
            <a:r>
              <a:rPr lang="zh-CN" altLang="en-US"/>
              <a:t>服务。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95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顺序图用来回答“系统运行起来以后谁先做什么”。运行员提交配置后，后端写入黑板，控制器、导航器、小车依次围绕黑板工作，最后前端通过 </a:t>
            </a:r>
            <a:r>
              <a:rPr lang="en-US" altLang="zh-CN"/>
              <a:t>WebSocket </a:t>
            </a:r>
            <a:r>
              <a:rPr lang="zh-CN" altLang="en-US"/>
              <a:t>得到实时状态。这说明设计不是孤立模块，而是完整闭环。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856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这一页是老师最关心的完成情况。我会说明每个设计产物对应后续实现中的什么部分。比如架构对应项目结构，数据结构对应 </a:t>
            </a:r>
            <a:r>
              <a:rPr lang="en-US" altLang="zh-CN"/>
              <a:t>Redis key</a:t>
            </a:r>
            <a:r>
              <a:rPr lang="zh-CN" altLang="en-US"/>
              <a:t>，详细设计对应核心模块流程，接口设计对应前后端和 </a:t>
            </a:r>
            <a:r>
              <a:rPr lang="en-US" altLang="zh-CN"/>
              <a:t>Worker </a:t>
            </a:r>
            <a:r>
              <a:rPr lang="zh-CN" altLang="en-US"/>
              <a:t>通信方式。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868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最后总结：设计阶段已经完成。我的设计产物覆盖了架构、数据、详细模块和接口，后续可以按这些设计继续实现和测试。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88D1-DB78-4358-8C22-3A7E2CFDB5D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30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4B107-018A-FCD4-E12D-F2446ACD6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6EB3D1-D905-4D39-96E0-3E974D62A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C36DB0-569B-91DC-91EA-92B05420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ADFC90-CD1A-A711-C83D-6A2109C52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AEC89F-8D87-F9EC-CF54-2B2F590DA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88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272BA-26AE-7E54-F87A-CAAA54288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6CD6B-D4CE-5294-CB65-C904FF197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D19D2D-1651-A011-61BA-AA870F08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48F538-5776-EA6F-7F97-73C98722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439A9-FD3A-76E9-C9ED-740C117B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71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F5A93-D96D-E6A7-21D2-CC152C82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7988FE-5AF8-A623-25B6-F82BA1D07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A08970-668D-4815-459D-3703BC1A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35C588-8A23-B1E1-D557-0E36EF330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6B19BE-1C37-0DAC-28EA-D04CE0D8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66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90D96-4EBD-C37B-B78A-6DC30988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8111D1-1E6C-3574-B149-8E5296B1B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556E2E-E05D-85B6-FD41-859FFD8D9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B3116B-779C-820B-AFFC-A25A058F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51955B-5B32-EB46-4CA3-1F1A1058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8D19E6-D8EA-9AE5-BF33-62F34696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695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CC942-0E15-23E1-6AA1-FDE07E36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CF7C53-417E-B431-F841-F2D836DC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E6468F-6A6A-2CDD-9E5F-6EE669E1E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6E0063-606E-A147-3BAF-E42DFAE38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8F241F-BB75-858A-213D-5AAF797A6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89A73B-FD05-0F5F-1374-FB46A579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C696E6-01EF-031A-3E5E-9728F9224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13671D-6614-1C2B-D9DD-516EE17A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68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6848A-DE57-36B2-FC46-B91CC60EB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59ACC6-1932-D897-BD26-6673325C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5BA0AC-5291-D5CB-7D29-8E2252AE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F7CABE-99C1-2771-FB87-27D0B5CC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15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37A85-2AC4-1E2D-20BA-848AF87B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17D449-821F-9ED9-E57B-2433AEFF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D4C352-495C-88AA-B7FA-694314CA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17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ACC98-3277-372D-A760-DFE3B271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E5CF7A-DAAE-5893-239A-A8519B37A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BF422E-8232-B684-C484-6FFB516B7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873201-9344-68D6-7962-AA268521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E8AD14-FEC5-2508-D66A-1CD588D2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41A2A2-A99B-E8AA-5830-04C562DC3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859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5976B-EE05-0925-280B-A2E948FC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6FE088-9D70-9326-E6DE-AB25FCD23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24E784-496F-6EA7-320A-5B7BE0D1F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9BC17F-7B1D-8B41-6B74-07AFBE1F9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F1A26A-DA91-9134-D081-D39932B7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191921-3B1F-3D0E-EF92-806AAB03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39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C9708-9432-5FC6-0F40-886BB917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38FA55-3EDC-4064-C1AB-E10149511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927EC0-59EB-C6B5-849C-56E94CFBD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7EED93-608C-14F4-3AB8-CB31D7A0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37877-B125-1740-0E92-134014A9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52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9C5EFA-5BA5-39D3-7FE7-A5A07A666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4CA407-4664-9E0A-6B4B-27A1E536B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A68148-3FE7-85E8-1E22-F64BCF0D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19D6E3-3341-B133-A781-AD9BE6A9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6A7A0-D8AA-03F8-7CE7-2CF9B940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01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1319EB-66F5-90C2-F751-8E8308D3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0B8FBC-AE15-E718-E162-91DE02F8E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89B55-010E-C75F-E95F-7AEA93808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605EC-8189-49F4-B853-8495CC19CBD2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35586B-2C4A-4AC8-8C47-D7FC4B108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1F746-A489-7226-8554-C48F184F7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283F6-07BA-4D66-B929-FAEE95FCC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68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627206-CDED-36A3-CE69-0FE453EBB328}"/>
              </a:ext>
            </a:extLst>
          </p:cNvPr>
          <p:cNvSpPr txBox="1"/>
          <p:nvPr/>
        </p:nvSpPr>
        <p:spPr>
          <a:xfrm>
            <a:off x="736600" y="838200"/>
            <a:ext cx="952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74DBFC-CB0E-4BDD-5D36-01108E2C24F2}"/>
              </a:ext>
            </a:extLst>
          </p:cNvPr>
          <p:cNvSpPr txBox="1"/>
          <p:nvPr/>
        </p:nvSpPr>
        <p:spPr>
          <a:xfrm>
            <a:off x="762000" y="1600200"/>
            <a:ext cx="914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软件设计阶段成果演示文档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294511-6FAD-84EF-AD04-75FADDD427C4}"/>
              </a:ext>
            </a:extLst>
          </p:cNvPr>
          <p:cNvSpPr txBox="1"/>
          <p:nvPr/>
        </p:nvSpPr>
        <p:spPr>
          <a:xfrm>
            <a:off x="787400" y="2311400"/>
            <a:ext cx="889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围绕架构设计、数据设计、详细设计、接口设计，展示本阶段已经完成的设计任务与可交付成果。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5C3302D-C3B8-695A-CCBF-6B12970F7459}"/>
              </a:ext>
            </a:extLst>
          </p:cNvPr>
          <p:cNvSpPr/>
          <p:nvPr/>
        </p:nvSpPr>
        <p:spPr>
          <a:xfrm>
            <a:off x="812800" y="3530600"/>
            <a:ext cx="1905000" cy="342900"/>
          </a:xfrm>
          <a:prstGeom prst="roundRect">
            <a:avLst/>
          </a:prstGeom>
          <a:solidFill>
            <a:srgbClr val="5F8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50" b="1">
                <a:solidFill>
                  <a:srgbClr val="FFFFFF"/>
                </a:solidFill>
                <a:ea typeface="Microsoft YaHei" panose="020B0503020204020204" pitchFamily="34" charset="-122"/>
              </a:rPr>
              <a:t>设计阶段成果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AB88AB2-CFF6-B53D-BCE7-26F67B48B10E}"/>
              </a:ext>
            </a:extLst>
          </p:cNvPr>
          <p:cNvSpPr/>
          <p:nvPr/>
        </p:nvSpPr>
        <p:spPr>
          <a:xfrm>
            <a:off x="2921000" y="3530600"/>
            <a:ext cx="1905000" cy="342900"/>
          </a:xfrm>
          <a:prstGeom prst="roundRect">
            <a:avLst/>
          </a:prstGeom>
          <a:solidFill>
            <a:srgbClr val="2B6D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50" b="1">
                <a:solidFill>
                  <a:srgbClr val="FFFFFF"/>
                </a:solidFill>
                <a:ea typeface="Microsoft YaHei" panose="020B0503020204020204" pitchFamily="34" charset="-122"/>
              </a:rPr>
              <a:t>Redis </a:t>
            </a:r>
            <a:r>
              <a:rPr lang="zh-CN" altLang="en-US" sz="1150" b="1">
                <a:solidFill>
                  <a:srgbClr val="FFFFFF"/>
                </a:solidFill>
                <a:ea typeface="Microsoft YaHei" panose="020B0503020204020204" pitchFamily="34" charset="-122"/>
              </a:rPr>
              <a:t>黑板架构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59F1F73-3BF0-8622-4C66-01D11A1CF735}"/>
              </a:ext>
            </a:extLst>
          </p:cNvPr>
          <p:cNvSpPr/>
          <p:nvPr/>
        </p:nvSpPr>
        <p:spPr>
          <a:xfrm>
            <a:off x="5029200" y="3530600"/>
            <a:ext cx="1905000" cy="342900"/>
          </a:xfrm>
          <a:prstGeom prst="roundRect">
            <a:avLst/>
          </a:prstGeom>
          <a:solidFill>
            <a:srgbClr val="7C5B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50" b="1">
                <a:solidFill>
                  <a:srgbClr val="FFFFFF"/>
                </a:solidFill>
                <a:ea typeface="Microsoft YaHei" panose="020B0503020204020204" pitchFamily="34" charset="-122"/>
              </a:rPr>
              <a:t>多车协作闭环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C2A8A4-8E7E-44EF-DB79-D74ACD0862B6}"/>
              </a:ext>
            </a:extLst>
          </p:cNvPr>
          <p:cNvSpPr txBox="1"/>
          <p:nvPr/>
        </p:nvSpPr>
        <p:spPr>
          <a:xfrm>
            <a:off x="812800" y="5486400"/>
            <a:ext cx="5334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汇报人：谢沐良 </a:t>
            </a:r>
            <a:r>
              <a:rPr lang="en-US" altLang="zh-CN" sz="12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12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课程：软件工程综合实验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0BEE9E-6FA5-7E43-CEE8-E7E9F3C8E83A}"/>
              </a:ext>
            </a:extLst>
          </p:cNvPr>
          <p:cNvSpPr txBox="1"/>
          <p:nvPr/>
        </p:nvSpPr>
        <p:spPr>
          <a:xfrm>
            <a:off x="812800" y="5816600"/>
            <a:ext cx="533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展示重点：我在软件设计阶段完成了什么，以及这些设计如何支撑系统实现。</a:t>
            </a:r>
          </a:p>
        </p:txBody>
      </p:sp>
    </p:spTree>
    <p:extLst>
      <p:ext uri="{BB962C8B-B14F-4D97-AF65-F5344CB8AC3E}">
        <p14:creationId xmlns:p14="http://schemas.microsoft.com/office/powerpoint/2010/main" val="3258898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321C84-BF32-A3DF-DDC8-A570822C275D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本阶段完成任务总览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27FF2-2258-9131-AEE9-C133F7632D95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从需求到设计，把系统拆成可实现、可验证、可扩展的模块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5DC7E1-EA2C-48E0-4E4D-046656C73FB4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BEF446-6096-F306-6704-D3D072C92CCB}"/>
              </a:ext>
            </a:extLst>
          </p:cNvPr>
          <p:cNvSpPr/>
          <p:nvPr/>
        </p:nvSpPr>
        <p:spPr>
          <a:xfrm>
            <a:off x="711200" y="1752600"/>
            <a:ext cx="3276600" cy="327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7BB6DA8-2F7A-F614-DC69-106E68BB60AC}"/>
              </a:ext>
            </a:extLst>
          </p:cNvPr>
          <p:cNvSpPr/>
          <p:nvPr/>
        </p:nvSpPr>
        <p:spPr>
          <a:xfrm>
            <a:off x="4457700" y="1752600"/>
            <a:ext cx="3276600" cy="327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BCE73F-8870-CF18-5C05-D0A2DBA7AFD6}"/>
              </a:ext>
            </a:extLst>
          </p:cNvPr>
          <p:cNvSpPr/>
          <p:nvPr/>
        </p:nvSpPr>
        <p:spPr>
          <a:xfrm>
            <a:off x="8204200" y="1752600"/>
            <a:ext cx="3276600" cy="327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77A42F-4028-853E-B3D2-07DE8AB94469}"/>
              </a:ext>
            </a:extLst>
          </p:cNvPr>
          <p:cNvSpPr txBox="1"/>
          <p:nvPr/>
        </p:nvSpPr>
        <p:spPr>
          <a:xfrm>
            <a:off x="965200" y="2082800"/>
            <a:ext cx="279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0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总体架构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359A02-A84E-7437-64E4-6A90527CB288}"/>
              </a:ext>
            </a:extLst>
          </p:cNvPr>
          <p:cNvSpPr txBox="1"/>
          <p:nvPr/>
        </p:nvSpPr>
        <p:spPr>
          <a:xfrm>
            <a:off x="990600" y="2667000"/>
            <a:ext cx="2667000" cy="8053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确定前后端分离结构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采用 </a:t>
            </a: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黑板解耦组件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明确三类 </a:t>
            </a: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职责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83D0C0-25E4-AACB-07F0-8B3E42F4851B}"/>
              </a:ext>
            </a:extLst>
          </p:cNvPr>
          <p:cNvSpPr txBox="1"/>
          <p:nvPr/>
        </p:nvSpPr>
        <p:spPr>
          <a:xfrm>
            <a:off x="4711700" y="2082800"/>
            <a:ext cx="279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5F88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000" b="1">
                <a:solidFill>
                  <a:srgbClr val="5F88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数据与模块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A3A89E-410A-E0AB-CC34-B0307F4BAA10}"/>
              </a:ext>
            </a:extLst>
          </p:cNvPr>
          <p:cNvSpPr txBox="1"/>
          <p:nvPr/>
        </p:nvSpPr>
        <p:spPr>
          <a:xfrm>
            <a:off x="4737100" y="2667000"/>
            <a:ext cx="2667000" cy="8053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设计车辆、地图、任务等结构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完成小车运行细化流程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补充状态转换与数据流图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C7D07D-8600-DF68-AE6D-6CF69657BFB3}"/>
              </a:ext>
            </a:extLst>
          </p:cNvPr>
          <p:cNvSpPr txBox="1"/>
          <p:nvPr/>
        </p:nvSpPr>
        <p:spPr>
          <a:xfrm>
            <a:off x="8458200" y="2082800"/>
            <a:ext cx="279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7C5B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000" b="1">
                <a:solidFill>
                  <a:srgbClr val="7C5B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接口协作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339AB1-D264-9816-47A2-BEF1F47546A5}"/>
              </a:ext>
            </a:extLst>
          </p:cNvPr>
          <p:cNvSpPr txBox="1"/>
          <p:nvPr/>
        </p:nvSpPr>
        <p:spPr>
          <a:xfrm>
            <a:off x="8483600" y="2667000"/>
            <a:ext cx="2667000" cy="8053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整理 </a:t>
            </a: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WebSocket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 </a:t>
            </a: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黑板读写接口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形成顺序图和讲解稿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DFC823-28DF-5316-2491-637FFE1D6173}"/>
              </a:ext>
            </a:extLst>
          </p:cNvPr>
          <p:cNvSpPr txBox="1"/>
          <p:nvPr/>
        </p:nvSpPr>
        <p:spPr>
          <a:xfrm>
            <a:off x="736600" y="5384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设计阶段交付物：系统流程图、用例</a:t>
            </a:r>
            <a:r>
              <a:rPr lang="en-US" altLang="zh-CN" sz="15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</a:t>
            </a:r>
            <a:r>
              <a:rPr lang="en-US" altLang="zh-CN" sz="15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数据流图、数据结构设计、详细设计图、顺序图、接口设计文档。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AB360-D5C5-5D42-6135-C76EAD3EA96B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B3F7BD-D84F-C7E2-E4F4-F77B01EB94AD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2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902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16DAE9F-20DB-EFEE-D4AB-CE1DE75A286E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总体架构设计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62FA7B-0553-9696-F327-8DEF82BD2191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核心思路：前端只访问后端，后端和 </a:t>
            </a:r>
            <a:r>
              <a:rPr lang="en-US" altLang="zh-CN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 </a:t>
            </a:r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lang="en-US" altLang="zh-CN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黑板共享状态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C6BE9D-D646-D93A-9B09-D51AF8B10926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D4A468B5-C00E-FAD9-E32B-459752C85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7147" y="2465917"/>
            <a:ext cx="4402006" cy="256116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5E69BB2E-9B66-CDE6-4294-9CD559BD30CF}"/>
              </a:ext>
            </a:extLst>
          </p:cNvPr>
          <p:cNvSpPr/>
          <p:nvPr/>
        </p:nvSpPr>
        <p:spPr>
          <a:xfrm>
            <a:off x="8331200" y="1752600"/>
            <a:ext cx="31496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4C738B-580F-950D-53E3-2DB8584D7195}"/>
              </a:ext>
            </a:extLst>
          </p:cNvPr>
          <p:cNvSpPr txBox="1"/>
          <p:nvPr/>
        </p:nvSpPr>
        <p:spPr>
          <a:xfrm>
            <a:off x="8585200" y="2032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架构设计结论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FA952A-BA44-5D36-925A-939D51921DE2}"/>
              </a:ext>
            </a:extLst>
          </p:cNvPr>
          <p:cNvSpPr txBox="1"/>
          <p:nvPr/>
        </p:nvSpPr>
        <p:spPr>
          <a:xfrm>
            <a:off x="8610600" y="2603500"/>
            <a:ext cx="2540000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界面层负责登录、配置、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展示和回放</a:t>
            </a:r>
          </a:p>
          <a:p>
            <a:pPr>
              <a:spcAft>
                <a:spcPts val="800"/>
              </a:spcAft>
            </a:pP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FastAPI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后端提供 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WebSocket</a:t>
            </a:r>
          </a:p>
          <a:p>
            <a:pPr>
              <a:spcAft>
                <a:spcPts val="800"/>
              </a:spcAft>
            </a:pP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Redis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黑板保存地图、车辆、任务和事件</a:t>
            </a:r>
          </a:p>
          <a:p>
            <a:pPr>
              <a:spcAft>
                <a:spcPts val="800"/>
              </a:spcAft>
            </a:pP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Robot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Controller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Navigator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互不直接调用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5D51B1-6057-6750-7F3D-6D5899C49B4E}"/>
              </a:ext>
            </a:extLst>
          </p:cNvPr>
          <p:cNvSpPr txBox="1"/>
          <p:nvPr/>
        </p:nvSpPr>
        <p:spPr>
          <a:xfrm>
            <a:off x="8610600" y="4775200"/>
            <a:ext cx="254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这样设计后，各组件可以独立部署，也方便后续替换任务分配或路径规划算法。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61EF4C-6F9F-499A-25CD-3466AE9956DE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FF4614-6DDD-922C-43B3-5EFB130F199A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3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838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EF35D9-E40A-32FD-F2C1-F4D6A924A306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功能边界与角色设计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C44A43-237B-57F5-AE16-4B4CFEE5E256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先用用例图锁定系统边界，再进入模块设计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131B41-B7B7-6AB2-9EF0-FB59B925C8D2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6CA8EC-B924-1E3C-E589-79CD586C2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381" y="2849842"/>
            <a:ext cx="3156238" cy="179331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5E55C41C-4764-A4ED-4D71-AA97FAEA25CC}"/>
              </a:ext>
            </a:extLst>
          </p:cNvPr>
          <p:cNvSpPr/>
          <p:nvPr/>
        </p:nvSpPr>
        <p:spPr>
          <a:xfrm>
            <a:off x="7086600" y="1752600"/>
            <a:ext cx="43942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620A8E-E6C5-0136-A89B-34B6E9F074A3}"/>
              </a:ext>
            </a:extLst>
          </p:cNvPr>
          <p:cNvSpPr txBox="1"/>
          <p:nvPr/>
        </p:nvSpPr>
        <p:spPr>
          <a:xfrm>
            <a:off x="7340600" y="2057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5F88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三类用户职责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28045E2-4FD0-D222-537F-4475E44DEE9B}"/>
              </a:ext>
            </a:extLst>
          </p:cNvPr>
          <p:cNvSpPr/>
          <p:nvPr/>
        </p:nvSpPr>
        <p:spPr>
          <a:xfrm>
            <a:off x="7340600" y="2628900"/>
            <a:ext cx="3632200" cy="508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72FB4F-3113-73C6-0DA3-84497DD90A68}"/>
              </a:ext>
            </a:extLst>
          </p:cNvPr>
          <p:cNvSpPr/>
          <p:nvPr/>
        </p:nvSpPr>
        <p:spPr>
          <a:xfrm>
            <a:off x="7340600" y="2628900"/>
            <a:ext cx="88900" cy="508000"/>
          </a:xfrm>
          <a:prstGeom prst="rect">
            <a:avLst/>
          </a:prstGeom>
          <a:solidFill>
            <a:srgbClr val="2B6D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67F8D4-3841-88C3-FCEE-F485F3C6D78A}"/>
              </a:ext>
            </a:extLst>
          </p:cNvPr>
          <p:cNvSpPr txBox="1"/>
          <p:nvPr/>
        </p:nvSpPr>
        <p:spPr>
          <a:xfrm>
            <a:off x="7569200" y="2755900"/>
            <a:ext cx="3302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管理员：维护系统运行员与分析员账号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0DD4351-D18F-30C9-96E1-D8FC9BBE53B0}"/>
              </a:ext>
            </a:extLst>
          </p:cNvPr>
          <p:cNvSpPr/>
          <p:nvPr/>
        </p:nvSpPr>
        <p:spPr>
          <a:xfrm>
            <a:off x="7340600" y="3238500"/>
            <a:ext cx="3632200" cy="508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9B561B-432E-7AA4-EE56-EB8691511328}"/>
              </a:ext>
            </a:extLst>
          </p:cNvPr>
          <p:cNvSpPr/>
          <p:nvPr/>
        </p:nvSpPr>
        <p:spPr>
          <a:xfrm>
            <a:off x="7340600" y="3238500"/>
            <a:ext cx="88900" cy="508000"/>
          </a:xfrm>
          <a:prstGeom prst="rect">
            <a:avLst/>
          </a:prstGeom>
          <a:solidFill>
            <a:srgbClr val="5F8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D9F0FF-C1DB-9A5F-E977-4E8BDE939939}"/>
              </a:ext>
            </a:extLst>
          </p:cNvPr>
          <p:cNvSpPr txBox="1"/>
          <p:nvPr/>
        </p:nvSpPr>
        <p:spPr>
          <a:xfrm>
            <a:off x="7569200" y="33655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系统运行员：配置地图、小车、算法并控制仿真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574F066-7EAE-6AA0-712C-3DCBAF2CCD8E}"/>
              </a:ext>
            </a:extLst>
          </p:cNvPr>
          <p:cNvSpPr/>
          <p:nvPr/>
        </p:nvSpPr>
        <p:spPr>
          <a:xfrm>
            <a:off x="7340600" y="3848100"/>
            <a:ext cx="3632200" cy="508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FB8601-061A-3695-8000-CAFAED43E591}"/>
              </a:ext>
            </a:extLst>
          </p:cNvPr>
          <p:cNvSpPr/>
          <p:nvPr/>
        </p:nvSpPr>
        <p:spPr>
          <a:xfrm>
            <a:off x="7340600" y="3848100"/>
            <a:ext cx="88900" cy="508000"/>
          </a:xfrm>
          <a:prstGeom prst="rect">
            <a:avLst/>
          </a:prstGeom>
          <a:solidFill>
            <a:srgbClr val="7C5B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2C52A0-B517-40A1-8986-4CE9DCDAA3D6}"/>
              </a:ext>
            </a:extLst>
          </p:cNvPr>
          <p:cNvSpPr txBox="1"/>
          <p:nvPr/>
        </p:nvSpPr>
        <p:spPr>
          <a:xfrm>
            <a:off x="7569200" y="3975100"/>
            <a:ext cx="3302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分析员：查看历史回放和运行分析结果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B1A16E-66F0-A314-8D37-5F829A2A1BF5}"/>
              </a:ext>
            </a:extLst>
          </p:cNvPr>
          <p:cNvSpPr txBox="1"/>
          <p:nvPr/>
        </p:nvSpPr>
        <p:spPr>
          <a:xfrm>
            <a:off x="7366000" y="4673600"/>
            <a:ext cx="36068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角色划分让后续接口权限、页面入口和数据访问范围都有明确依据。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E0694A8-085A-380C-F445-FD0B50EB304F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15D5D6-4E86-89D9-4D22-59C002F3DF41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4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199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FD1422-36E4-A989-8905-8AC18D8B5038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运行状态设计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0F8047-3413-4B87-DC0D-612CF8FE31BD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用状态图约束小车从空闲到执行、阻塞、完成的变化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D88F60-928B-4E33-6FAE-78B2E223BCE9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FD60DD-0DAF-E943-F93A-466173845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016" y="2529417"/>
            <a:ext cx="2426369" cy="256116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DC575DA9-8902-19D6-ABC0-2B700FCEF920}"/>
              </a:ext>
            </a:extLst>
          </p:cNvPr>
          <p:cNvSpPr/>
          <p:nvPr/>
        </p:nvSpPr>
        <p:spPr>
          <a:xfrm>
            <a:off x="7620000" y="1828800"/>
            <a:ext cx="3784600" cy="347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B590D2-0CFA-1562-4AD6-6C37F906011B}"/>
              </a:ext>
            </a:extLst>
          </p:cNvPr>
          <p:cNvSpPr txBox="1"/>
          <p:nvPr/>
        </p:nvSpPr>
        <p:spPr>
          <a:xfrm>
            <a:off x="7874000" y="21082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7C5B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状态设计作用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90AED2-B9D6-5057-1D41-85EB283EC9B0}"/>
              </a:ext>
            </a:extLst>
          </p:cNvPr>
          <p:cNvSpPr txBox="1"/>
          <p:nvPr/>
        </p:nvSpPr>
        <p:spPr>
          <a:xfrm>
            <a:off x="7899400" y="2667000"/>
            <a:ext cx="3022600" cy="12695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IDLE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：等待任务分配</a:t>
            </a:r>
          </a:p>
          <a:p>
            <a:pPr>
              <a:spcAft>
                <a:spcPts val="800"/>
              </a:spcAft>
            </a:pP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PLANNING/RUNNING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：领取任务并执行路径</a:t>
            </a:r>
          </a:p>
          <a:p>
            <a:pPr>
              <a:spcAft>
                <a:spcPts val="800"/>
              </a:spcAft>
            </a:pP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BLOCKED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：遇到碰撞风险或路径不可达</a:t>
            </a:r>
          </a:p>
          <a:p>
            <a:pPr>
              <a:spcAft>
                <a:spcPts val="800"/>
              </a:spcAft>
            </a:pP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DONE/FAILED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：完成或失败后写回事件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60A5AA-F34E-6A13-C559-E8897A338E17}"/>
              </a:ext>
            </a:extLst>
          </p:cNvPr>
          <p:cNvSpPr txBox="1"/>
          <p:nvPr/>
        </p:nvSpPr>
        <p:spPr>
          <a:xfrm>
            <a:off x="7899400" y="4800600"/>
            <a:ext cx="302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状态图保证小车模块、任务模块和界面展示使用同一套状态语义。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BD86F3-046D-034B-E3B3-99F568207427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B48B6B-C045-3F83-0720-AEE01F9A4FE9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5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0263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47E567-F563-632A-3382-8DDC4537BD1A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数据结构设计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1A55E8-24BF-9DE2-DD8E-F7D6A0F8860A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围绕 </a:t>
            </a:r>
            <a:r>
              <a:rPr lang="en-US" altLang="zh-CN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黑板定义运行时数据对象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B4A64D-D806-9EB4-626B-655FA6FA38BD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90A209D-A1CF-BC1C-1784-415453DC313A}"/>
              </a:ext>
            </a:extLst>
          </p:cNvPr>
          <p:cNvSpPr/>
          <p:nvPr/>
        </p:nvSpPr>
        <p:spPr>
          <a:xfrm>
            <a:off x="736600" y="1752600"/>
            <a:ext cx="49276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1DE7A4-76DA-AE5C-B22C-E3AB730C46FE}"/>
              </a:ext>
            </a:extLst>
          </p:cNvPr>
          <p:cNvSpPr txBox="1"/>
          <p:nvPr/>
        </p:nvSpPr>
        <p:spPr>
          <a:xfrm>
            <a:off x="990600" y="2082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核心数据对象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FDB932-4CBB-8B1A-9996-6325FE0A6D9C}"/>
              </a:ext>
            </a:extLst>
          </p:cNvPr>
          <p:cNvSpPr txBox="1"/>
          <p:nvPr/>
        </p:nvSpPr>
        <p:spPr>
          <a:xfrm>
            <a:off x="1016000" y="2667000"/>
            <a:ext cx="4191000" cy="16024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RuntimeConfigInfo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：运行策略、导航算法、导航器数量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VehicleInfo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：小车位置、朝向、状态、当前任务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FrontierInfo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：前沿点位置、未知收益、分配状态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TaskInfo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：目标点、路径队列、执行进度、重规划次数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NavigationRequest / Plan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：规划请求与路径结果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MapInfo / MapCellInfo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：地图尺寸、版本、格子状态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77CE677-9EDE-DE3C-508F-E7CCFCF76D3A}"/>
              </a:ext>
            </a:extLst>
          </p:cNvPr>
          <p:cNvSpPr/>
          <p:nvPr/>
        </p:nvSpPr>
        <p:spPr>
          <a:xfrm>
            <a:off x="6324600" y="1752600"/>
            <a:ext cx="49530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9EE5EC-2090-559C-95F4-249CCB492BAC}"/>
              </a:ext>
            </a:extLst>
          </p:cNvPr>
          <p:cNvSpPr txBox="1"/>
          <p:nvPr/>
        </p:nvSpPr>
        <p:spPr>
          <a:xfrm>
            <a:off x="6578600" y="2082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5F88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Key </a:t>
            </a:r>
            <a:r>
              <a:rPr lang="zh-CN" altLang="en-US" b="1">
                <a:solidFill>
                  <a:srgbClr val="5F88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9899FB-6578-E47D-E529-2A96AC274835}"/>
              </a:ext>
            </a:extLst>
          </p:cNvPr>
          <p:cNvSpPr txBox="1"/>
          <p:nvPr/>
        </p:nvSpPr>
        <p:spPr>
          <a:xfrm>
            <a:off x="6604000" y="2667000"/>
            <a:ext cx="4191000" cy="22200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inspection:runtime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inspection:vehicles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inspection:frontiers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inspection:tasks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inspection:navigation_requests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inspection:navigation_plans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inspection:map:meta / map:chunks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inspection:heartbeats / events</a:t>
            </a:r>
            <a:endParaRPr lang="zh-CN" altLang="en-US" sz="1220">
              <a:solidFill>
                <a:srgbClr val="2C384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D9CB90-5D1F-C618-ED0A-E6638CFE32E2}"/>
              </a:ext>
            </a:extLst>
          </p:cNvPr>
          <p:cNvSpPr txBox="1"/>
          <p:nvPr/>
        </p:nvSpPr>
        <p:spPr>
          <a:xfrm>
            <a:off x="6604000" y="5054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目标：让 </a:t>
            </a:r>
            <a:r>
              <a:rPr lang="en-US" altLang="zh-CN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Controller</a:t>
            </a:r>
            <a:r>
              <a:rPr lang="zh-CN" altLang="en-US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Navigator</a:t>
            </a:r>
            <a:r>
              <a:rPr lang="zh-CN" altLang="en-US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Robot </a:t>
            </a:r>
            <a:r>
              <a:rPr lang="zh-CN" altLang="en-US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都能通过统一数据结构读写系统状态。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F9FD5C-80A0-AE72-7B76-7F31E481351F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20BC8D-1B2D-2D9E-8AEB-B4F0AD508553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6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640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41268E-3640-56CF-829A-2EC4CC3F9389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详细设计：地图探索主流程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7DE35D-AE72-0D71-F9EB-E2863BBBB67B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把“扫描地图 </a:t>
            </a:r>
            <a:r>
              <a:rPr lang="en-US" altLang="zh-CN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发现前沿 </a:t>
            </a:r>
            <a:r>
              <a:rPr lang="en-US" altLang="zh-CN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分配任务 </a:t>
            </a:r>
            <a:r>
              <a:rPr lang="en-US" altLang="zh-CN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规划路径 </a:t>
            </a:r>
            <a:r>
              <a:rPr lang="en-US" altLang="zh-CN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执行移动”细化为数据流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3D2A2C-EE44-F540-525C-9E406ACB0319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40A867-E58D-4E19-BDA8-9EE8828D1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33" y="2458567"/>
            <a:ext cx="3375633" cy="2639366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F81458B6-8899-9342-197A-BC578940DF75}"/>
              </a:ext>
            </a:extLst>
          </p:cNvPr>
          <p:cNvSpPr/>
          <p:nvPr/>
        </p:nvSpPr>
        <p:spPr>
          <a:xfrm>
            <a:off x="8229600" y="1752600"/>
            <a:ext cx="32512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861AB9-6761-FDCE-5950-4BEC5569B232}"/>
              </a:ext>
            </a:extLst>
          </p:cNvPr>
          <p:cNvSpPr txBox="1"/>
          <p:nvPr/>
        </p:nvSpPr>
        <p:spPr>
          <a:xfrm>
            <a:off x="8483600" y="2032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完成的设计点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E0FE27-C86F-1E3B-D747-4C7B587ECE04}"/>
              </a:ext>
            </a:extLst>
          </p:cNvPr>
          <p:cNvSpPr txBox="1"/>
          <p:nvPr/>
        </p:nvSpPr>
        <p:spPr>
          <a:xfrm>
            <a:off x="8509000" y="2603500"/>
            <a:ext cx="2540000" cy="17245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明确运行员添加小车后的数据写入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定义小车按节拍执行探索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控制器读取空闲车和 </a:t>
            </a: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frontier </a:t>
            </a:r>
            <a:r>
              <a:rPr lang="zh-CN" altLang="en-US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分配任务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导航器读取地图和状态生成路径</a:t>
            </a:r>
          </a:p>
          <a:p>
            <a:pPr>
              <a:spcAft>
                <a:spcPts val="800"/>
              </a:spcAft>
            </a:pPr>
            <a:r>
              <a:rPr lang="en-US" altLang="zh-CN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2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界面从黑板读取最新地图与车辆状态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D9B62A-5035-7CA4-B503-3D9F45201D55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0C129C-09B7-5D3A-7C67-1F0565542CD1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7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9817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6E4753-FE79-B204-11C2-C38A40444531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详细设计：小车模块分层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19EC8A-1065-35ED-209A-9E5245B5E5FE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二层图说明模块职责，三层图展开运行中状态的处理细节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055282-E380-5DAA-A9CF-F23BE5F9433E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20C643-9430-A53B-3539-BD3CB0AAF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388" y="3204984"/>
            <a:ext cx="2223823" cy="9814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F0500A-00E5-80C3-D5E9-A90C5A7F2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35" y="2506556"/>
            <a:ext cx="1562931" cy="2378287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D479353D-E84E-7838-3F99-6B6E1BDFFA6F}"/>
              </a:ext>
            </a:extLst>
          </p:cNvPr>
          <p:cNvSpPr/>
          <p:nvPr/>
        </p:nvSpPr>
        <p:spPr>
          <a:xfrm>
            <a:off x="1143000" y="5791200"/>
            <a:ext cx="3175000" cy="342900"/>
          </a:xfrm>
          <a:prstGeom prst="roundRect">
            <a:avLst/>
          </a:prstGeom>
          <a:solidFill>
            <a:srgbClr val="5F8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50" b="1">
                <a:solidFill>
                  <a:srgbClr val="FFFFFF"/>
                </a:solidFill>
                <a:ea typeface="Microsoft YaHei" panose="020B0503020204020204" pitchFamily="34" charset="-122"/>
              </a:rPr>
              <a:t>小车模块二层数据流图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01EA64D-8DB0-4D36-B102-D8D9CF70C612}"/>
              </a:ext>
            </a:extLst>
          </p:cNvPr>
          <p:cNvSpPr/>
          <p:nvPr/>
        </p:nvSpPr>
        <p:spPr>
          <a:xfrm>
            <a:off x="6959600" y="5791200"/>
            <a:ext cx="3175000" cy="342900"/>
          </a:xfrm>
          <a:prstGeom prst="roundRect">
            <a:avLst/>
          </a:prstGeom>
          <a:solidFill>
            <a:srgbClr val="7C5B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50" b="1">
                <a:solidFill>
                  <a:srgbClr val="FFFFFF"/>
                </a:solidFill>
                <a:ea typeface="Microsoft YaHei" panose="020B0503020204020204" pitchFamily="34" charset="-122"/>
              </a:rPr>
              <a:t>运行中状态三层细化图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A46166-8E8C-7E94-217D-9E28673989B3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42ACFC-85FE-EE4F-0B72-0E088E971A74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8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460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3A3537-7746-AC80-CAF1-43B99222CB7F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3B5674-4AE9-4FE9-A970-E3ECC3C3D6B3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前端通过 </a:t>
            </a:r>
            <a:r>
              <a:rPr lang="en-US" altLang="zh-CN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HTTP/WebSocket </a:t>
            </a:r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访问后端，内部组件通过 </a:t>
            </a:r>
            <a:r>
              <a:rPr lang="en-US" altLang="zh-CN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黑板协作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42962D-F0DF-E8A3-FEAA-6771F12B23A4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62165BF-023B-4CDB-ACEB-E5A7C615A0DF}"/>
              </a:ext>
            </a:extLst>
          </p:cNvPr>
          <p:cNvSpPr/>
          <p:nvPr/>
        </p:nvSpPr>
        <p:spPr>
          <a:xfrm>
            <a:off x="736600" y="1739900"/>
            <a:ext cx="106045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6F52B3-4D46-BA32-3528-C1D6EDB8E8D6}"/>
              </a:ext>
            </a:extLst>
          </p:cNvPr>
          <p:cNvSpPr txBox="1"/>
          <p:nvPr/>
        </p:nvSpPr>
        <p:spPr>
          <a:xfrm>
            <a:off x="1041400" y="2070100"/>
            <a:ext cx="990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前端显示组件 </a:t>
            </a:r>
            <a:r>
              <a:rPr lang="en-US" altLang="zh-CN" sz="21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FastAPI </a:t>
            </a:r>
            <a:r>
              <a:rPr lang="zh-CN" altLang="en-US" sz="21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 </a:t>
            </a:r>
            <a:r>
              <a:rPr lang="en-US" altLang="zh-CN" sz="21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Redis </a:t>
            </a:r>
            <a:r>
              <a:rPr lang="zh-CN" altLang="en-US" sz="21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B348F4-0D77-2F23-0ADC-41F6ECFCC51E}"/>
              </a:ext>
            </a:extLst>
          </p:cNvPr>
          <p:cNvSpPr txBox="1"/>
          <p:nvPr/>
        </p:nvSpPr>
        <p:spPr>
          <a:xfrm>
            <a:off x="1041400" y="24892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Controller Worker / Navigator Worker / Robot Fleet Worker -&gt; Redis </a:t>
            </a:r>
            <a:r>
              <a:rPr lang="zh-CN" altLang="en-US" sz="14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F8A8065-8D52-CAAE-78C1-9E8BEB954245}"/>
              </a:ext>
            </a:extLst>
          </p:cNvPr>
          <p:cNvSpPr/>
          <p:nvPr/>
        </p:nvSpPr>
        <p:spPr>
          <a:xfrm>
            <a:off x="736600" y="3276600"/>
            <a:ext cx="3175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97E8BEC-589F-2CA1-F260-D482B5CD4119}"/>
              </a:ext>
            </a:extLst>
          </p:cNvPr>
          <p:cNvSpPr/>
          <p:nvPr/>
        </p:nvSpPr>
        <p:spPr>
          <a:xfrm>
            <a:off x="4445000" y="3276600"/>
            <a:ext cx="3175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1159739-F00C-5D31-563C-16C17B792491}"/>
              </a:ext>
            </a:extLst>
          </p:cNvPr>
          <p:cNvSpPr/>
          <p:nvPr/>
        </p:nvSpPr>
        <p:spPr>
          <a:xfrm>
            <a:off x="8153400" y="3276600"/>
            <a:ext cx="3175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E4620D-5272-BDEB-BB64-D62CAE05A48B}"/>
              </a:ext>
            </a:extLst>
          </p:cNvPr>
          <p:cNvSpPr txBox="1"/>
          <p:nvPr/>
        </p:nvSpPr>
        <p:spPr>
          <a:xfrm>
            <a:off x="990600" y="35814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F88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 REST</a:t>
            </a:r>
            <a:endParaRPr lang="zh-CN" altLang="en-US" sz="1700" b="1">
              <a:solidFill>
                <a:srgbClr val="5F88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2EC010-FB2A-C4AF-D191-335D8EC3414E}"/>
              </a:ext>
            </a:extLst>
          </p:cNvPr>
          <p:cNvSpPr txBox="1"/>
          <p:nvPr/>
        </p:nvSpPr>
        <p:spPr>
          <a:xfrm>
            <a:off x="1016000" y="4038600"/>
            <a:ext cx="2413000" cy="10341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登录认证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配置提交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</a:t>
            </a: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暂停</a:t>
            </a: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重置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回放查询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1A5E28-395B-E788-6431-E9F5E3D419C3}"/>
              </a:ext>
            </a:extLst>
          </p:cNvPr>
          <p:cNvSpPr txBox="1"/>
          <p:nvPr/>
        </p:nvSpPr>
        <p:spPr>
          <a:xfrm>
            <a:off x="4699000" y="35814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7C5B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WebSocket</a:t>
            </a:r>
            <a:endParaRPr lang="zh-CN" altLang="en-US" sz="1700" b="1">
              <a:solidFill>
                <a:srgbClr val="7C5B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DF3988-269A-2478-34BD-122BB490B49E}"/>
              </a:ext>
            </a:extLst>
          </p:cNvPr>
          <p:cNvSpPr txBox="1"/>
          <p:nvPr/>
        </p:nvSpPr>
        <p:spPr>
          <a:xfrm>
            <a:off x="4724400" y="4038600"/>
            <a:ext cx="2413000" cy="7499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持续推送状态快照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实时显示地图、小车、任务、路径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减少前端轮询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789CC2-ADA2-9366-5834-7224BA2E768F}"/>
              </a:ext>
            </a:extLst>
          </p:cNvPr>
          <p:cNvSpPr txBox="1"/>
          <p:nvPr/>
        </p:nvSpPr>
        <p:spPr>
          <a:xfrm>
            <a:off x="8407400" y="35814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7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黑板接口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524FCB-7B00-A8BF-193F-49FD2B5A6E1D}"/>
              </a:ext>
            </a:extLst>
          </p:cNvPr>
          <p:cNvSpPr txBox="1"/>
          <p:nvPr/>
        </p:nvSpPr>
        <p:spPr>
          <a:xfrm>
            <a:off x="8432800" y="4038600"/>
            <a:ext cx="2413000" cy="10341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任务分配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路径规划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小车执行</a:t>
            </a:r>
          </a:p>
          <a:p>
            <a:pPr>
              <a:spcAft>
                <a:spcPts val="800"/>
              </a:spcAft>
            </a:pPr>
            <a:r>
              <a:rPr lang="en-US" altLang="zh-CN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8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事件与心跳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D9D485-7F5B-2875-794F-D0556268AD38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AF0284-26E5-CD3F-2826-0B5405F65D70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9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7869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65D78E-4A3B-84B3-1F2B-9B11BF5FFD40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顺序协作设计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17A583-5644-74E8-D284-AEBE5322B70E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用顺序图说明一次仿真从配置到实时反馈的交互过程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C6E527-6035-B533-ADEE-E3CB7DE1B13F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46A56C38-37BC-EC88-C0D7-39C8F81B5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574" y="2425229"/>
            <a:ext cx="3508053" cy="2718741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61CA3665-68E6-ADD3-A085-8B41C662B4D6}"/>
              </a:ext>
            </a:extLst>
          </p:cNvPr>
          <p:cNvSpPr/>
          <p:nvPr/>
        </p:nvSpPr>
        <p:spPr>
          <a:xfrm>
            <a:off x="7874000" y="1727200"/>
            <a:ext cx="36068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B92C3C-53E1-CF0A-A3EF-2AEC233D0238}"/>
              </a:ext>
            </a:extLst>
          </p:cNvPr>
          <p:cNvSpPr txBox="1"/>
          <p:nvPr/>
        </p:nvSpPr>
        <p:spPr>
          <a:xfrm>
            <a:off x="8128000" y="2032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5F88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一次运行的协作链路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EA397D-F14F-1B15-026B-C7AF5E125CF6}"/>
              </a:ext>
            </a:extLst>
          </p:cNvPr>
          <p:cNvSpPr txBox="1"/>
          <p:nvPr/>
        </p:nvSpPr>
        <p:spPr>
          <a:xfrm>
            <a:off x="8153400" y="2590800"/>
            <a:ext cx="2794000" cy="18163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运行员在 </a:t>
            </a:r>
            <a:r>
              <a:rPr lang="en-US" altLang="zh-CN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Dashboard </a:t>
            </a:r>
            <a:r>
              <a:rPr lang="zh-CN" altLang="en-US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提交配置</a:t>
            </a:r>
          </a:p>
          <a:p>
            <a:pPr>
              <a:spcAft>
                <a:spcPts val="800"/>
              </a:spcAft>
            </a:pPr>
            <a:r>
              <a:rPr lang="en-US" altLang="zh-CN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后端写入 </a:t>
            </a:r>
            <a:r>
              <a:rPr lang="en-US" altLang="zh-CN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</a:t>
            </a:r>
            <a:r>
              <a:rPr lang="zh-CN" altLang="en-US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、地图和车辆初始状态</a:t>
            </a:r>
          </a:p>
          <a:p>
            <a:pPr>
              <a:spcAft>
                <a:spcPts val="800"/>
              </a:spcAft>
            </a:pPr>
            <a:r>
              <a:rPr lang="en-US" altLang="zh-CN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Controller </a:t>
            </a:r>
            <a:r>
              <a:rPr lang="zh-CN" altLang="en-US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创建任务和导航请求</a:t>
            </a:r>
          </a:p>
          <a:p>
            <a:pPr>
              <a:spcAft>
                <a:spcPts val="800"/>
              </a:spcAft>
            </a:pPr>
            <a:r>
              <a:rPr lang="en-US" altLang="zh-CN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Navigator </a:t>
            </a:r>
            <a:r>
              <a:rPr lang="zh-CN" altLang="en-US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写回路径计划</a:t>
            </a:r>
          </a:p>
          <a:p>
            <a:pPr>
              <a:spcAft>
                <a:spcPts val="800"/>
              </a:spcAft>
            </a:pPr>
            <a:r>
              <a:rPr lang="en-US" altLang="zh-CN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Robot </a:t>
            </a:r>
            <a:r>
              <a:rPr lang="zh-CN" altLang="en-US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执行路径并上传地图 </a:t>
            </a:r>
            <a:r>
              <a:rPr lang="en-US" altLang="zh-CN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patch</a:t>
            </a:r>
          </a:p>
          <a:p>
            <a:pPr>
              <a:spcAft>
                <a:spcPts val="800"/>
              </a:spcAft>
            </a:pPr>
            <a:r>
              <a:rPr lang="en-US" altLang="zh-CN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1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后端推送状态快照给前端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8D96F8-6BE5-8FF6-A82D-B0E35B27BE83}"/>
              </a:ext>
            </a:extLst>
          </p:cNvPr>
          <p:cNvSpPr txBox="1"/>
          <p:nvPr/>
        </p:nvSpPr>
        <p:spPr>
          <a:xfrm>
            <a:off x="8153400" y="48514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顺序图把静态结构和动态运行流程连起来，便于老师检查设计是否闭环。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DD583A-3F1A-CE82-78F9-123A3C5111CF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BB937F-79B8-5E40-B714-E0A60DBDD54E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10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7536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410E93-2790-FC80-EA16-4AAF27AFCA24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设计成果与实现对应关系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35CA6D-DE0D-7357-7EEE-2A01017BC7A3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设计文档不是孤立材料，而是直接约束后续编码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25D266-30A3-3262-CE1C-D7E39B951EB4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7D3A215-330B-3668-4DBD-828BCD455587}"/>
              </a:ext>
            </a:extLst>
          </p:cNvPr>
          <p:cNvSpPr/>
          <p:nvPr/>
        </p:nvSpPr>
        <p:spPr>
          <a:xfrm>
            <a:off x="711200" y="1651000"/>
            <a:ext cx="107950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77DF641-4B20-08BE-03DC-967836E13E2D}"/>
              </a:ext>
            </a:extLst>
          </p:cNvPr>
          <p:cNvSpPr/>
          <p:nvPr/>
        </p:nvSpPr>
        <p:spPr>
          <a:xfrm>
            <a:off x="1041400" y="2108200"/>
            <a:ext cx="9906000" cy="508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45CE50-960D-EC82-3225-4FE6361D1506}"/>
              </a:ext>
            </a:extLst>
          </p:cNvPr>
          <p:cNvSpPr/>
          <p:nvPr/>
        </p:nvSpPr>
        <p:spPr>
          <a:xfrm>
            <a:off x="1041400" y="2108200"/>
            <a:ext cx="88900" cy="508000"/>
          </a:xfrm>
          <a:prstGeom prst="rect">
            <a:avLst/>
          </a:prstGeom>
          <a:solidFill>
            <a:srgbClr val="2B6D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DC9A0D-B623-D345-23A5-F0FF46F34454}"/>
              </a:ext>
            </a:extLst>
          </p:cNvPr>
          <p:cNvSpPr txBox="1"/>
          <p:nvPr/>
        </p:nvSpPr>
        <p:spPr>
          <a:xfrm>
            <a:off x="1270000" y="2235200"/>
            <a:ext cx="95758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架构设计 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FastAPI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Vue/Three.js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黑板、三类 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</a:t>
            </a:r>
            <a:endParaRPr lang="zh-CN" altLang="en-US" sz="1250">
              <a:solidFill>
                <a:srgbClr val="2C384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B2658C3-1DF5-39D0-5F37-E8C0EDC60A15}"/>
              </a:ext>
            </a:extLst>
          </p:cNvPr>
          <p:cNvSpPr/>
          <p:nvPr/>
        </p:nvSpPr>
        <p:spPr>
          <a:xfrm>
            <a:off x="1041400" y="2717800"/>
            <a:ext cx="9906000" cy="508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0B53F5-B87E-DA31-18CC-31F032B26818}"/>
              </a:ext>
            </a:extLst>
          </p:cNvPr>
          <p:cNvSpPr/>
          <p:nvPr/>
        </p:nvSpPr>
        <p:spPr>
          <a:xfrm>
            <a:off x="1041400" y="2717800"/>
            <a:ext cx="88900" cy="508000"/>
          </a:xfrm>
          <a:prstGeom prst="rect">
            <a:avLst/>
          </a:prstGeom>
          <a:solidFill>
            <a:srgbClr val="5F8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C15446-23F6-388D-B28F-44C07B9D8776}"/>
              </a:ext>
            </a:extLst>
          </p:cNvPr>
          <p:cNvSpPr txBox="1"/>
          <p:nvPr/>
        </p:nvSpPr>
        <p:spPr>
          <a:xfrm>
            <a:off x="1270000" y="2844800"/>
            <a:ext cx="95758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数据结构设计 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vehicles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tasks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frontiers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navigation_requests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数据对象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EA613FF-7909-FB78-4727-D0DB54AA6319}"/>
              </a:ext>
            </a:extLst>
          </p:cNvPr>
          <p:cNvSpPr/>
          <p:nvPr/>
        </p:nvSpPr>
        <p:spPr>
          <a:xfrm>
            <a:off x="1041400" y="3327400"/>
            <a:ext cx="9906000" cy="508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18FAE-F060-BF42-D9B8-F82FF4AD0CED}"/>
              </a:ext>
            </a:extLst>
          </p:cNvPr>
          <p:cNvSpPr/>
          <p:nvPr/>
        </p:nvSpPr>
        <p:spPr>
          <a:xfrm>
            <a:off x="1041400" y="3327400"/>
            <a:ext cx="88900" cy="508000"/>
          </a:xfrm>
          <a:prstGeom prst="rect">
            <a:avLst/>
          </a:prstGeom>
          <a:solidFill>
            <a:srgbClr val="7C5B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F58F0E-641F-B873-C620-C50481E21CB6}"/>
              </a:ext>
            </a:extLst>
          </p:cNvPr>
          <p:cNvSpPr txBox="1"/>
          <p:nvPr/>
        </p:nvSpPr>
        <p:spPr>
          <a:xfrm>
            <a:off x="1270000" y="3454400"/>
            <a:ext cx="95758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详细设计图 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Robot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Controller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分配、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Navigator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规划、数据分析模块的处理流程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BC6C4FC-86B0-BBF4-A20B-1725F24F8E56}"/>
              </a:ext>
            </a:extLst>
          </p:cNvPr>
          <p:cNvSpPr/>
          <p:nvPr/>
        </p:nvSpPr>
        <p:spPr>
          <a:xfrm>
            <a:off x="1041400" y="3937000"/>
            <a:ext cx="9906000" cy="508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A2B479-2432-8C69-B97B-C0258FF1E884}"/>
              </a:ext>
            </a:extLst>
          </p:cNvPr>
          <p:cNvSpPr/>
          <p:nvPr/>
        </p:nvSpPr>
        <p:spPr>
          <a:xfrm>
            <a:off x="1041400" y="3937000"/>
            <a:ext cx="88900" cy="508000"/>
          </a:xfrm>
          <a:prstGeom prst="rect">
            <a:avLst/>
          </a:prstGeom>
          <a:solidFill>
            <a:srgbClr val="2B6D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F94F4F3-5C2D-C328-5EAF-A358CEE4D9D6}"/>
              </a:ext>
            </a:extLst>
          </p:cNvPr>
          <p:cNvSpPr txBox="1"/>
          <p:nvPr/>
        </p:nvSpPr>
        <p:spPr>
          <a:xfrm>
            <a:off x="1270000" y="4064000"/>
            <a:ext cx="95758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接口设计 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REST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控制接口、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WebSocket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状态推送、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仓储接口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486C514-3BEC-BB51-A611-AC0F4E60B12F}"/>
              </a:ext>
            </a:extLst>
          </p:cNvPr>
          <p:cNvSpPr/>
          <p:nvPr/>
        </p:nvSpPr>
        <p:spPr>
          <a:xfrm>
            <a:off x="1041400" y="4546600"/>
            <a:ext cx="9906000" cy="508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2F7D141-D013-1AC7-44EF-10F95AFE99FB}"/>
              </a:ext>
            </a:extLst>
          </p:cNvPr>
          <p:cNvSpPr/>
          <p:nvPr/>
        </p:nvSpPr>
        <p:spPr>
          <a:xfrm>
            <a:off x="1041400" y="4546600"/>
            <a:ext cx="88900" cy="508000"/>
          </a:xfrm>
          <a:prstGeom prst="rect">
            <a:avLst/>
          </a:prstGeom>
          <a:solidFill>
            <a:srgbClr val="5F8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8B744A-52D4-D7C9-A88B-08A9772B1575}"/>
              </a:ext>
            </a:extLst>
          </p:cNvPr>
          <p:cNvSpPr txBox="1"/>
          <p:nvPr/>
        </p:nvSpPr>
        <p:spPr>
          <a:xfrm>
            <a:off x="1270000" y="4673600"/>
            <a:ext cx="95758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顺序图 </a:t>
            </a:r>
            <a:r>
              <a:rPr lang="en-US" altLang="zh-CN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2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配置、启动、任务分配、路径规划、执行、反馈的完整协作链路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554A4A-57E9-6607-DFA0-EBBFD3A70D89}"/>
              </a:ext>
            </a:extLst>
          </p:cNvPr>
          <p:cNvSpPr txBox="1"/>
          <p:nvPr/>
        </p:nvSpPr>
        <p:spPr>
          <a:xfrm>
            <a:off x="1066800" y="5257800"/>
            <a:ext cx="952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汇报时可以强调：本阶段已经把系统从“功能想法”推进到“可按模块编码和验证”的设计状态。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17DBAB-66F1-263C-4042-B12E3A9CA378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9D8CE2-F095-D21A-F182-0D02815D9BEE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11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2391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8B0E8B-338B-1231-9D3A-65D027C6192B}"/>
              </a:ext>
            </a:extLst>
          </p:cNvPr>
          <p:cNvSpPr txBox="1"/>
          <p:nvPr/>
        </p:nvSpPr>
        <p:spPr>
          <a:xfrm>
            <a:off x="584200" y="3810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7E0CF0-0008-5C66-CEF3-4509F1122811}"/>
              </a:ext>
            </a:extLst>
          </p:cNvPr>
          <p:cNvSpPr txBox="1"/>
          <p:nvPr/>
        </p:nvSpPr>
        <p:spPr>
          <a:xfrm>
            <a:off x="609600" y="939800"/>
            <a:ext cx="9652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软件设计阶段已经完成从需求到可实现方案的转化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4481F9-7AA2-91BB-A348-6149B83D5F92}"/>
              </a:ext>
            </a:extLst>
          </p:cNvPr>
          <p:cNvSpPr/>
          <p:nvPr/>
        </p:nvSpPr>
        <p:spPr>
          <a:xfrm>
            <a:off x="584200" y="1358900"/>
            <a:ext cx="11023600" cy="17780"/>
          </a:xfrm>
          <a:prstGeom prst="rect">
            <a:avLst/>
          </a:prstGeom>
          <a:solidFill>
            <a:srgbClr val="C2CE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21CCFDB-9116-CA0D-404B-C4E49BD08AA6}"/>
              </a:ext>
            </a:extLst>
          </p:cNvPr>
          <p:cNvSpPr/>
          <p:nvPr/>
        </p:nvSpPr>
        <p:spPr>
          <a:xfrm>
            <a:off x="812800" y="1854200"/>
            <a:ext cx="10414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834D6E-7D63-A97A-6AEB-349FAC67E437}"/>
              </a:ext>
            </a:extLst>
          </p:cNvPr>
          <p:cNvSpPr txBox="1"/>
          <p:nvPr/>
        </p:nvSpPr>
        <p:spPr>
          <a:xfrm>
            <a:off x="1168400" y="2209800"/>
            <a:ext cx="965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42F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本阶段我完成了以下工作：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279535-81CA-0089-311C-B5B64BD82603}"/>
              </a:ext>
            </a:extLst>
          </p:cNvPr>
          <p:cNvSpPr txBox="1"/>
          <p:nvPr/>
        </p:nvSpPr>
        <p:spPr>
          <a:xfrm>
            <a:off x="1219200" y="2844800"/>
            <a:ext cx="9144000" cy="1200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完成系统总体架构设计，确定前后端分离 </a:t>
            </a:r>
            <a:r>
              <a:rPr lang="en-US" altLang="zh-CN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Redis </a:t>
            </a:r>
            <a:r>
              <a:rPr lang="zh-CN" altLang="en-US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 </a:t>
            </a:r>
            <a:r>
              <a:rPr lang="en-US" altLang="zh-CN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Worker </a:t>
            </a:r>
            <a:r>
              <a:rPr lang="zh-CN" altLang="en-US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协作模式</a:t>
            </a:r>
          </a:p>
          <a:p>
            <a:pPr>
              <a:spcAft>
                <a:spcPts val="800"/>
              </a:spcAft>
            </a:pPr>
            <a:r>
              <a:rPr lang="en-US" altLang="zh-CN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完成核心数据结构设计，明确车辆、地图、任务、导航、事件等运行数据</a:t>
            </a:r>
          </a:p>
          <a:p>
            <a:pPr>
              <a:spcAft>
                <a:spcPts val="800"/>
              </a:spcAft>
            </a:pPr>
            <a:r>
              <a:rPr lang="en-US" altLang="zh-CN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完成详细设计图，细化地图探索、小车执行、数据分析等核心模块</a:t>
            </a:r>
          </a:p>
          <a:p>
            <a:pPr>
              <a:spcAft>
                <a:spcPts val="800"/>
              </a:spcAft>
            </a:pPr>
            <a:r>
              <a:rPr lang="en-US" altLang="zh-CN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完成接口设计，明确 </a:t>
            </a:r>
            <a:r>
              <a:rPr lang="en-US" altLang="zh-CN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</a:t>
            </a:r>
            <a:r>
              <a:rPr lang="zh-CN" altLang="en-US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WebSocket</a:t>
            </a:r>
            <a:r>
              <a:rPr lang="zh-CN" altLang="en-US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450">
                <a:solidFill>
                  <a:srgbClr val="2C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黑板接口和组件协作方式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044F37-7BB8-8DD3-D0E0-1B08F41E8CEF}"/>
              </a:ext>
            </a:extLst>
          </p:cNvPr>
          <p:cNvSpPr txBox="1"/>
          <p:nvPr/>
        </p:nvSpPr>
        <p:spPr>
          <a:xfrm>
            <a:off x="1219200" y="4648200"/>
            <a:ext cx="914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B6D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下一步可以基于这些设计进入编码完善、测试验证和演示运行阶段。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C290FE-F89B-3DDD-38AF-B60F3F51AEA7}"/>
              </a:ext>
            </a:extLst>
          </p:cNvPr>
          <p:cNvSpPr txBox="1"/>
          <p:nvPr/>
        </p:nvSpPr>
        <p:spPr>
          <a:xfrm>
            <a:off x="584200" y="6477000"/>
            <a:ext cx="863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多小车协作巡检仿真系统 </a:t>
            </a:r>
            <a:r>
              <a:rPr lang="en-US" altLang="zh-CN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850">
                <a:solidFill>
                  <a:srgbClr val="59677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软件设计阶段成果展示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035A28-380D-7620-660B-B295EFD43F24}"/>
              </a:ext>
            </a:extLst>
          </p:cNvPr>
          <p:cNvSpPr/>
          <p:nvPr/>
        </p:nvSpPr>
        <p:spPr>
          <a:xfrm>
            <a:off x="11150600" y="6413500"/>
            <a:ext cx="457200" cy="254000"/>
          </a:xfrm>
          <a:prstGeom prst="rect">
            <a:avLst/>
          </a:prstGeom>
          <a:solidFill>
            <a:srgbClr val="DF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59677A"/>
                </a:solidFill>
                <a:ea typeface="Microsoft YaHei" panose="020B0503020204020204" pitchFamily="34" charset="-122"/>
              </a:rPr>
              <a:t>12</a:t>
            </a:r>
            <a:endParaRPr lang="zh-CN" altLang="en-US" sz="900">
              <a:solidFill>
                <a:srgbClr val="59677A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4564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</Words>
  <Application>Microsoft Office PowerPoint</Application>
  <PresentationFormat>自定义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文锦 许</dc:creator>
  <cp:lastModifiedBy>文锦 许</cp:lastModifiedBy>
  <cp:revision>1</cp:revision>
  <dcterms:created xsi:type="dcterms:W3CDTF">2026-06-23T09:30:42Z</dcterms:created>
  <dcterms:modified xsi:type="dcterms:W3CDTF">2026-06-23T09:30:42Z</dcterms:modified>
</cp:coreProperties>
</file>